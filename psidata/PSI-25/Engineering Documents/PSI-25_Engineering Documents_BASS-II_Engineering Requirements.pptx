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8" r:id="rId2"/>
    <p:sldId id="279" r:id="rId3"/>
    <p:sldId id="272" r:id="rId4"/>
    <p:sldId id="273" r:id="rId5"/>
    <p:sldId id="304" r:id="rId6"/>
    <p:sldId id="303" r:id="rId7"/>
    <p:sldId id="30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532" autoAdjust="0"/>
    <p:restoredTop sz="94737" autoAdjust="0"/>
  </p:normalViewPr>
  <p:slideViewPr>
    <p:cSldViewPr>
      <p:cViewPr varScale="1">
        <p:scale>
          <a:sx n="88" d="100"/>
          <a:sy n="88" d="100"/>
        </p:scale>
        <p:origin x="201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2" y="40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19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465EC-1D52-4CA0-B1EA-39906EF70A21}" type="datetimeFigureOut">
              <a:rPr lang="en-US" smtClean="0"/>
              <a:pPr/>
              <a:t>2/21/2017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64953-E3BD-4067-9EAA-262D40C414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531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B04BC-8E41-4064-9902-F84BFB99EB09}" type="datetimeFigureOut">
              <a:rPr lang="en-US" smtClean="0"/>
              <a:pPr/>
              <a:t>2/21/2017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7ABD64-4F5A-4DED-8F20-D9A4D1BE7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Arial" pitchFamily="34" charset="0"/>
              </a:defRPr>
            </a:lvl1pPr>
            <a:lvl2pPr>
              <a:defRPr sz="2400" baseline="0">
                <a:latin typeface="Arial" pitchFamily="34" charset="0"/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1300"/>
            <a:ext cx="7772400" cy="749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219200"/>
            <a:ext cx="7772400" cy="47244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6EF26-D775-47F3-A6BA-3649B0E2641D}" type="slidenum">
              <a:rPr lang="en-US"/>
              <a:pPr>
                <a:defRPr/>
              </a:pPr>
              <a:t>‹#›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DD53F-ED85-40F0-8A4F-D2DF7E37908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BASS-2 </a:t>
            </a:r>
            <a:r>
              <a:rPr lang="en-US" dirty="0" smtClean="0"/>
              <a:t>Engineering</a:t>
            </a:r>
            <a:r>
              <a:rPr lang="en-US" dirty="0"/>
              <a:t> </a:t>
            </a:r>
            <a:r>
              <a:rPr lang="en-US" dirty="0" smtClean="0"/>
              <a:t>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sz="2200" dirty="0" smtClean="0"/>
              <a:t>General Requirements</a:t>
            </a:r>
          </a:p>
          <a:p>
            <a:pPr lvl="1"/>
            <a:r>
              <a:rPr lang="en-US" sz="1700" dirty="0" smtClean="0"/>
              <a:t>Each Burning And Suppression of </a:t>
            </a:r>
            <a:r>
              <a:rPr lang="en-US" sz="1700" dirty="0" smtClean="0"/>
              <a:t>Solids-2 </a:t>
            </a:r>
            <a:r>
              <a:rPr lang="en-US" sz="1700" dirty="0" smtClean="0"/>
              <a:t>(</a:t>
            </a:r>
            <a:r>
              <a:rPr lang="en-US" sz="1700" dirty="0" smtClean="0"/>
              <a:t>BASS-2) </a:t>
            </a:r>
            <a:r>
              <a:rPr lang="en-US" sz="1700" dirty="0"/>
              <a:t>s</a:t>
            </a:r>
            <a:r>
              <a:rPr lang="en-US" sz="1700" dirty="0" smtClean="0"/>
              <a:t>olid </a:t>
            </a:r>
            <a:r>
              <a:rPr lang="en-US" sz="1700" dirty="0"/>
              <a:t>f</a:t>
            </a:r>
            <a:r>
              <a:rPr lang="en-US" sz="1700" dirty="0" smtClean="0"/>
              <a:t>uel </a:t>
            </a:r>
            <a:r>
              <a:rPr lang="en-US" sz="1700" dirty="0"/>
              <a:t>a</a:t>
            </a:r>
            <a:r>
              <a:rPr lang="en-US" sz="1700" dirty="0" smtClean="0"/>
              <a:t>ssembly is mounted inside the Experiment Assembly via a magnetic interface such that it can be installed and removed by the crew.</a:t>
            </a:r>
          </a:p>
          <a:p>
            <a:pPr lvl="1"/>
            <a:r>
              <a:rPr lang="en-US" sz="1700" dirty="0" smtClean="0"/>
              <a:t>Solid fuel ignition will be done with a hot-wire </a:t>
            </a:r>
            <a:r>
              <a:rPr lang="en-US" sz="1700" dirty="0" err="1" smtClean="0"/>
              <a:t>Kanthol</a:t>
            </a:r>
            <a:r>
              <a:rPr lang="en-US" sz="1700" dirty="0" smtClean="0"/>
              <a:t> material igniter.</a:t>
            </a:r>
          </a:p>
          <a:p>
            <a:pPr lvl="1"/>
            <a:r>
              <a:rPr lang="en-US" sz="1800" dirty="0" smtClean="0"/>
              <a:t>Nitrogen gas to be used from 0 to 500 SCCM N</a:t>
            </a:r>
            <a:r>
              <a:rPr lang="en-US" sz="1800" baseline="-25000" dirty="0" smtClean="0"/>
              <a:t>2.</a:t>
            </a:r>
            <a:r>
              <a:rPr lang="en-US" sz="1800" dirty="0" smtClean="0"/>
              <a:t>  </a:t>
            </a:r>
            <a:r>
              <a:rPr lang="en-US" sz="1700" dirty="0" smtClean="0"/>
              <a:t>Instead of connecting the Experiment Assembly to the gas bottle it is connected via the GN2 hose to the Microgravity Science </a:t>
            </a:r>
            <a:r>
              <a:rPr lang="en-US" sz="1700" dirty="0" err="1" smtClean="0"/>
              <a:t>Glovebox</a:t>
            </a:r>
            <a:r>
              <a:rPr lang="en-US" sz="1700" dirty="0" smtClean="0"/>
              <a:t> (MSG) gaseous nitrogen (GN2) supply interface.</a:t>
            </a:r>
          </a:p>
          <a:p>
            <a:pPr lvl="1"/>
            <a:r>
              <a:rPr lang="en-US" sz="1800" dirty="0" smtClean="0"/>
              <a:t>3.2 mm normal length and 3.2 mm short length burner tubes will be manifested and used for BASS.</a:t>
            </a:r>
          </a:p>
          <a:p>
            <a:pPr lvl="1"/>
            <a:r>
              <a:rPr lang="en-US" sz="1700" dirty="0" smtClean="0"/>
              <a:t>The Control Box will be modified to allow the fan flow adjustment to stop the fan when set to its minimum </a:t>
            </a:r>
            <a:r>
              <a:rPr lang="en-US" sz="1800" dirty="0" smtClean="0"/>
              <a:t>as a safety mechanism to extinguish flame.</a:t>
            </a:r>
            <a:endParaRPr lang="en-US" sz="1700" dirty="0" smtClean="0"/>
          </a:p>
          <a:p>
            <a:r>
              <a:rPr lang="en-US" sz="2200" dirty="0" smtClean="0"/>
              <a:t>Parameter Measurement</a:t>
            </a:r>
          </a:p>
          <a:p>
            <a:pPr lvl="1"/>
            <a:r>
              <a:rPr lang="en-US" sz="1800" dirty="0" smtClean="0"/>
              <a:t>Measurement of the GN2 Flow rate, Fan Voltage, Co-Flow velocity, and flame radiation will be measured and overlaid on the video.</a:t>
            </a:r>
          </a:p>
          <a:p>
            <a:pPr lvl="1"/>
            <a:r>
              <a:rPr lang="en-US" sz="1800" dirty="0" smtClean="0"/>
              <a:t>The data acquisition rate as measured by SPICE hardware is 4 Hz.</a:t>
            </a:r>
          </a:p>
          <a:p>
            <a:pPr lvl="1"/>
            <a:r>
              <a:rPr lang="en-US" sz="1800" dirty="0" smtClean="0"/>
              <a:t>The measurement accuracy of ±10% was met by the SPICE hardware prior to its launch.  The measurement accuracy will meet the requirements for </a:t>
            </a:r>
            <a:r>
              <a:rPr lang="en-US" sz="1800" dirty="0" smtClean="0"/>
              <a:t>BASS-2.</a:t>
            </a:r>
            <a:endParaRPr lang="en-US" sz="1800" dirty="0" smtClean="0"/>
          </a:p>
          <a:p>
            <a:r>
              <a:rPr lang="en-US" sz="2200" dirty="0" smtClean="0"/>
              <a:t>Imaging Requirements</a:t>
            </a:r>
          </a:p>
          <a:p>
            <a:pPr lvl="1"/>
            <a:r>
              <a:rPr lang="en-US" sz="1800" dirty="0" smtClean="0"/>
              <a:t>The Field of view of the video is fixed for </a:t>
            </a:r>
            <a:r>
              <a:rPr lang="en-US" sz="1800" dirty="0" smtClean="0"/>
              <a:t>BASS-2 </a:t>
            </a:r>
            <a:r>
              <a:rPr lang="en-US" sz="1800" dirty="0" smtClean="0"/>
              <a:t>can not be changed from SPICE.</a:t>
            </a:r>
          </a:p>
          <a:p>
            <a:pPr lvl="1"/>
            <a:r>
              <a:rPr lang="en-US" sz="1800" dirty="0" smtClean="0"/>
              <a:t>The Still Image requirements are the same as for SPICE.  The </a:t>
            </a:r>
            <a:r>
              <a:rPr lang="en-US" sz="1800" dirty="0" smtClean="0"/>
              <a:t>BASS-2 </a:t>
            </a:r>
            <a:r>
              <a:rPr lang="en-US" sz="1800" dirty="0" smtClean="0"/>
              <a:t>still image requirements will be met with the Nikon model D300s digital still camera.</a:t>
            </a:r>
          </a:p>
          <a:p>
            <a:pPr lvl="1"/>
            <a:endParaRPr lang="en-US" sz="1800" dirty="0" smtClean="0"/>
          </a:p>
          <a:p>
            <a:endParaRPr lang="en-US" sz="2000" dirty="0" smtClean="0"/>
          </a:p>
          <a:p>
            <a:pPr lvl="1">
              <a:buNone/>
            </a:pPr>
            <a:endParaRPr lang="en-US" sz="1600" dirty="0" smtClean="0"/>
          </a:p>
          <a:p>
            <a:pPr lvl="1">
              <a:buNone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200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BASS-2 </a:t>
            </a:r>
            <a:r>
              <a:rPr lang="en-US" dirty="0" smtClean="0"/>
              <a:t>Engineering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sz="2100" dirty="0" smtClean="0"/>
              <a:t>Acceleration</a:t>
            </a:r>
          </a:p>
          <a:p>
            <a:pPr lvl="1"/>
            <a:r>
              <a:rPr lang="en-US" sz="1700" dirty="0" smtClean="0"/>
              <a:t>BASS-2 </a:t>
            </a:r>
            <a:r>
              <a:rPr lang="en-US" sz="1700" dirty="0" smtClean="0"/>
              <a:t>testing will be scheduled around planned thruster firing or spacecraft dock or undock</a:t>
            </a:r>
            <a:r>
              <a:rPr lang="en-US" sz="1700" dirty="0" smtClean="0">
                <a:cs typeface="Arial" pitchFamily="34" charset="0"/>
              </a:rPr>
              <a:t>.</a:t>
            </a:r>
            <a:endParaRPr lang="en-US" sz="1700" dirty="0" smtClean="0"/>
          </a:p>
          <a:p>
            <a:pPr lvl="1"/>
            <a:r>
              <a:rPr lang="en-US" sz="1800" dirty="0" smtClean="0"/>
              <a:t>The acceleration environment will be measured by the Space Acceleration Measurement System (SAMS) during </a:t>
            </a:r>
            <a:r>
              <a:rPr lang="en-US" sz="1800" dirty="0" smtClean="0"/>
              <a:t>BASS-2 </a:t>
            </a:r>
            <a:r>
              <a:rPr lang="en-US" sz="1800" dirty="0" smtClean="0"/>
              <a:t>testing which will be installed into the Microgravity Science </a:t>
            </a:r>
            <a:r>
              <a:rPr lang="en-US" sz="1800" dirty="0" err="1" smtClean="0"/>
              <a:t>Glovebox</a:t>
            </a:r>
            <a:r>
              <a:rPr lang="en-US" sz="1800" dirty="0" smtClean="0"/>
              <a:t> (MSG) Work Volume.</a:t>
            </a:r>
          </a:p>
          <a:p>
            <a:r>
              <a:rPr lang="en-US" sz="2000" dirty="0" smtClean="0"/>
              <a:t>Oxygen Concentration</a:t>
            </a:r>
          </a:p>
          <a:p>
            <a:pPr lvl="1"/>
            <a:r>
              <a:rPr lang="en-US" sz="1600" dirty="0" smtClean="0"/>
              <a:t>The </a:t>
            </a:r>
            <a:r>
              <a:rPr lang="en-US" sz="1600" dirty="0" smtClean="0"/>
              <a:t>BASS-2 </a:t>
            </a:r>
            <a:r>
              <a:rPr lang="en-US" sz="1600" dirty="0" smtClean="0"/>
              <a:t>experiment will include steps in crew procedures to install a Compound Specific Analyzer (CSA-O2) into the MSG to measure the Oxygen concentration.  There is also a </a:t>
            </a:r>
            <a:r>
              <a:rPr lang="en-US" sz="1600" i="1" dirty="0" smtClean="0"/>
              <a:t>Major Constituent Analyzer </a:t>
            </a:r>
            <a:r>
              <a:rPr lang="en-US" sz="1600" dirty="0" smtClean="0"/>
              <a:t>available to measure the Columbus Module concentration. </a:t>
            </a:r>
            <a:endParaRPr lang="en-US" sz="2000" dirty="0" smtClean="0"/>
          </a:p>
          <a:p>
            <a:r>
              <a:rPr lang="en-US" sz="2000" dirty="0" smtClean="0"/>
              <a:t>Crew inserts fuel sample and adjusts igniter and fuel base to desired position</a:t>
            </a:r>
          </a:p>
          <a:p>
            <a:pPr lvl="1"/>
            <a:r>
              <a:rPr lang="en-US" sz="1600" dirty="0" smtClean="0"/>
              <a:t>Sample Frame Assembly is designed to allow for adjustment of the position of the </a:t>
            </a:r>
            <a:r>
              <a:rPr lang="en-US" sz="1600" dirty="0" smtClean="0"/>
              <a:t>BASS-2 </a:t>
            </a:r>
            <a:r>
              <a:rPr lang="en-US" sz="1600" dirty="0" smtClean="0"/>
              <a:t>solid fuel sample.</a:t>
            </a:r>
          </a:p>
          <a:p>
            <a:pPr lvl="1"/>
            <a:r>
              <a:rPr lang="en-US" sz="1600" dirty="0" smtClean="0"/>
              <a:t>The Igniter has a wire extension that the crew will be able to position as required to ignite the solid fuel sample.</a:t>
            </a:r>
          </a:p>
          <a:p>
            <a:pPr lvl="1">
              <a:buNone/>
            </a:pPr>
            <a:endParaRPr lang="en-US" sz="1600" dirty="0" smtClean="0"/>
          </a:p>
          <a:p>
            <a:pPr lvl="1">
              <a:buNone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200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BASS-2 </a:t>
            </a:r>
            <a:r>
              <a:rPr lang="en-US" dirty="0" smtClean="0"/>
              <a:t>Hardware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 smtClean="0"/>
              <a:t>BASS-2 </a:t>
            </a:r>
            <a:r>
              <a:rPr lang="en-US" sz="2400" dirty="0" smtClean="0"/>
              <a:t>will utilize the Smoke Point In Co-flow Experiment (SPICE) hardware currently on ISS</a:t>
            </a:r>
          </a:p>
          <a:p>
            <a:pPr lvl="1"/>
            <a:r>
              <a:rPr lang="en-US" sz="2000" dirty="0" smtClean="0"/>
              <a:t>Experiment Assembly, Cables, Video Camera</a:t>
            </a:r>
          </a:p>
          <a:p>
            <a:r>
              <a:rPr lang="en-US" sz="2400" dirty="0" smtClean="0"/>
              <a:t>BASS-2 </a:t>
            </a:r>
            <a:r>
              <a:rPr lang="en-US" sz="2400" dirty="0" smtClean="0"/>
              <a:t>will utilize the </a:t>
            </a:r>
            <a:r>
              <a:rPr lang="en-US" sz="2400" dirty="0" smtClean="0"/>
              <a:t>BASS</a:t>
            </a:r>
            <a:r>
              <a:rPr lang="en-US" sz="2400" dirty="0" smtClean="0"/>
              <a:t> </a:t>
            </a:r>
            <a:r>
              <a:rPr lang="en-US" sz="2400" dirty="0" smtClean="0"/>
              <a:t>Digital Still Camera</a:t>
            </a:r>
          </a:p>
          <a:p>
            <a:r>
              <a:rPr lang="en-US" sz="2400" dirty="0" smtClean="0"/>
              <a:t>BASS-2 </a:t>
            </a:r>
            <a:r>
              <a:rPr lang="en-US" sz="2400" dirty="0" smtClean="0"/>
              <a:t>will design, fabrication, assemble, test new hardware</a:t>
            </a:r>
          </a:p>
          <a:p>
            <a:pPr lvl="1"/>
            <a:r>
              <a:rPr lang="en-US" sz="2000" dirty="0" smtClean="0"/>
              <a:t>Modified 3.2 mm burner tube</a:t>
            </a:r>
          </a:p>
          <a:p>
            <a:pPr lvl="1"/>
            <a:r>
              <a:rPr lang="en-US" sz="2000" dirty="0" smtClean="0"/>
              <a:t>GN2 Hose Assembly</a:t>
            </a:r>
          </a:p>
          <a:p>
            <a:pPr lvl="1"/>
            <a:r>
              <a:rPr lang="en-US" sz="2000" dirty="0" smtClean="0"/>
              <a:t>Sample Frame Assembly Insert for Experiment Assembly</a:t>
            </a:r>
          </a:p>
          <a:p>
            <a:pPr lvl="1"/>
            <a:r>
              <a:rPr lang="en-US" sz="2000" dirty="0" smtClean="0"/>
              <a:t>4 different fuel holder designs for a total of </a:t>
            </a:r>
            <a:r>
              <a:rPr lang="en-US" sz="2000" dirty="0" smtClean="0"/>
              <a:t>100</a:t>
            </a:r>
            <a:r>
              <a:rPr lang="en-US" sz="2000" dirty="0" smtClean="0"/>
              <a:t> </a:t>
            </a:r>
            <a:r>
              <a:rPr lang="en-US" sz="2000" dirty="0" smtClean="0"/>
              <a:t>fuel samples</a:t>
            </a:r>
          </a:p>
          <a:p>
            <a:pPr lvl="1"/>
            <a:r>
              <a:rPr lang="en-US" sz="2000" dirty="0" smtClean="0"/>
              <a:t>BASS Control Box</a:t>
            </a:r>
          </a:p>
          <a:p>
            <a:pPr lvl="1"/>
            <a:r>
              <a:rPr lang="en-US" sz="2000" dirty="0" smtClean="0"/>
              <a:t>Fan Flow Block Assembly</a:t>
            </a:r>
          </a:p>
          <a:p>
            <a:pPr lvl="1"/>
            <a:r>
              <a:rPr lang="en-US" sz="2000" dirty="0" smtClean="0"/>
              <a:t>Igniter Wire Extension Assembly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/>
          <a:lstStyle/>
          <a:p>
            <a:r>
              <a:rPr lang="en-US" dirty="0" smtClean="0"/>
              <a:t>BASS-2 </a:t>
            </a:r>
            <a:r>
              <a:rPr lang="en-US" dirty="0" smtClean="0"/>
              <a:t>Hardware Description</a:t>
            </a:r>
            <a:endParaRPr lang="en-US" dirty="0"/>
          </a:p>
        </p:txBody>
      </p:sp>
      <p:pic>
        <p:nvPicPr>
          <p:cNvPr id="2051" name="Picture 3" descr="S:\public\tlorik\Images\DSC0507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828800"/>
            <a:ext cx="2971800" cy="222885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914400" y="41148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Experiment Assembly</a:t>
            </a:r>
            <a:endParaRPr lang="en-US" dirty="0"/>
          </a:p>
        </p:txBody>
      </p:sp>
      <p:pic>
        <p:nvPicPr>
          <p:cNvPr id="2054" name="Picture 6" descr="S:\public\tlorik\Images\DSC0512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1828800"/>
            <a:ext cx="2667000" cy="2209800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5486400" y="41148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Video Camera</a:t>
            </a:r>
            <a:endParaRPr lang="en-US" dirty="0"/>
          </a:p>
        </p:txBody>
      </p:sp>
      <p:pic>
        <p:nvPicPr>
          <p:cNvPr id="8" name="Picture 4" descr="S:\public\tlorik\Images\DSC05106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05200" y="4343400"/>
            <a:ext cx="2590803" cy="1943102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3505200" y="632460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BASS Control Box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4/14/2010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BASS-2 SAMPLE PHOTOS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10/28/2013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 useBgFill="1">
        <p:nvSpPr>
          <p:cNvPr id="18" name="TextBox 17"/>
          <p:cNvSpPr txBox="1"/>
          <p:nvPr/>
        </p:nvSpPr>
        <p:spPr>
          <a:xfrm>
            <a:off x="5598671" y="3700647"/>
            <a:ext cx="533400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26" name="Picture 2" descr="Z:\Shares\SpaceDOC\DO-118 BASS\BASS-2(ORB1)\S1183MFA1085-001\2003\PHOTOS 12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271" y="1109847"/>
            <a:ext cx="3105150" cy="2328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41071" y="2797915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Sphere Sample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27" name="Picture 3" descr="Z:\Shares\SpaceDOC\DO-118 BASS\BASS-2(ORB1)\S1183MFA1020\2002\PHOTOS 01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32404"/>
            <a:ext cx="3037179" cy="2277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065271" y="1262247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2 cm SIBAL Sample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28" name="Picture 4" descr="Z:\Shares\SpaceDOC\DO-118 BASS\BASS-2(ORB1)\S1183MFA1110\S1183MFA1110-1\2005\PHOTOS 11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271" y="3607411"/>
            <a:ext cx="3105150" cy="2328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290440" y="3681936"/>
            <a:ext cx="3047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Flat PMMA Sample (0.1 mm)</a:t>
            </a:r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29" name="Picture 5" descr="Z:\Shares\SpaceDOC\DO-118 BASS\BASS-2(ORB1)\S1183MFA1110\S1183MFA1110-9\2002\PHOTOS 05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613273"/>
            <a:ext cx="3097335" cy="232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4561180" y="5494222"/>
            <a:ext cx="3047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Flat PMMA Sample (5 mm)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06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BASS Sample Types</a:t>
            </a:r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19D7D7C-AC91-4E1B-B728-731E5C577F23}" type="slidenum">
              <a:rPr lang="en-US" smtClean="0"/>
              <a:pPr/>
              <a:t>6</a:t>
            </a:fld>
            <a:endParaRPr lang="en-US" smtClean="0">
              <a:latin typeface="Times New Roman" pitchFamily="18" charset="0"/>
            </a:endParaRPr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81200"/>
            <a:ext cx="8237538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048000" y="1066800"/>
            <a:ext cx="305911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kern="0" dirty="0"/>
              <a:t>BASS Sample Types</a:t>
            </a:r>
            <a:endParaRPr lang="en-US" kern="0" dirty="0">
              <a:solidFill>
                <a:srgbClr val="000000"/>
              </a:solidFill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2"/>
          <p:cNvSpPr txBox="1">
            <a:spLocks noChangeArrowheads="1"/>
          </p:cNvSpPr>
          <p:nvPr/>
        </p:nvSpPr>
        <p:spPr bwMode="auto">
          <a:xfrm>
            <a:off x="450428" y="1434909"/>
            <a:ext cx="329014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 smtClean="0">
                <a:solidFill>
                  <a:prstClr val="black"/>
                </a:solidFill>
              </a:rPr>
              <a:t>ROD </a:t>
            </a:r>
            <a:r>
              <a:rPr lang="en-US" sz="1600" dirty="0">
                <a:solidFill>
                  <a:prstClr val="black"/>
                </a:solidFill>
              </a:rPr>
              <a:t>SAMPLE </a:t>
            </a:r>
            <a:r>
              <a:rPr lang="en-US" sz="1600" dirty="0" smtClean="0">
                <a:solidFill>
                  <a:prstClr val="black"/>
                </a:solidFill>
              </a:rPr>
              <a:t>ASSEMBLY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BASS-2 HARDWARE OVERVIEW</a:t>
            </a:r>
            <a:br>
              <a:rPr lang="en-US" dirty="0" smtClean="0"/>
            </a:br>
            <a:r>
              <a:rPr lang="en-US" dirty="0" smtClean="0"/>
              <a:t>(Sample Mounting)</a:t>
            </a:r>
            <a:endParaRPr lang="en-US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6/16/2010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D53F-ED85-40F0-8A4F-D2DF7E37908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76200" y="1524000"/>
            <a:ext cx="5105400" cy="3524882"/>
            <a:chOff x="228600" y="1752600"/>
            <a:chExt cx="3429000" cy="2402733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l="9285" t="9904" r="55238" b="23048"/>
            <a:stretch>
              <a:fillRect/>
            </a:stretch>
          </p:blipFill>
          <p:spPr bwMode="auto">
            <a:xfrm>
              <a:off x="228600" y="1752600"/>
              <a:ext cx="3429000" cy="2025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Text Box 2"/>
            <p:cNvSpPr txBox="1">
              <a:spLocks noChangeArrowheads="1"/>
            </p:cNvSpPr>
            <p:nvPr/>
          </p:nvSpPr>
          <p:spPr bwMode="auto">
            <a:xfrm>
              <a:off x="842749" y="3570558"/>
              <a:ext cx="2209800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dirty="0">
                  <a:solidFill>
                    <a:prstClr val="black"/>
                  </a:solidFill>
                </a:rPr>
                <a:t>FLAT SAMPLE </a:t>
              </a:r>
              <a:r>
                <a:rPr lang="en-US" sz="1600" dirty="0" smtClean="0">
                  <a:solidFill>
                    <a:prstClr val="black"/>
                  </a:solidFill>
                </a:rPr>
                <a:t>ASSEMBLY (1 CM &amp; 2 </a:t>
              </a:r>
              <a:r>
                <a:rPr lang="en-US" sz="1600" dirty="0">
                  <a:solidFill>
                    <a:prstClr val="black"/>
                  </a:solidFill>
                </a:rPr>
                <a:t>CM WIDE)</a:t>
              </a: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733800"/>
            <a:ext cx="3683676" cy="2846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5181600" y="5638800"/>
            <a:ext cx="329014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 smtClean="0">
                <a:solidFill>
                  <a:prstClr val="black"/>
                </a:solidFill>
              </a:rPr>
              <a:t>ROD SAMPLE</a:t>
            </a:r>
            <a:endParaRPr lang="en-US" sz="1600" dirty="0">
              <a:solidFill>
                <a:prstClr val="black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468" y="1401584"/>
            <a:ext cx="3609832" cy="2789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5055310" y="3564523"/>
            <a:ext cx="329014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dirty="0" smtClean="0">
                <a:solidFill>
                  <a:prstClr val="black"/>
                </a:solidFill>
              </a:rPr>
              <a:t>SPHERE SAMPLE</a:t>
            </a:r>
            <a:endParaRPr lang="en-US" sz="1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68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</TotalTime>
  <Words>568</Words>
  <Application>Microsoft Office PowerPoint</Application>
  <PresentationFormat>On-screen Show (4:3)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Verdana</vt:lpstr>
      <vt:lpstr>Office Theme</vt:lpstr>
      <vt:lpstr>BASS-2 Engineering Requirements</vt:lpstr>
      <vt:lpstr>BASS-2 Engineering Requirements</vt:lpstr>
      <vt:lpstr>BASS-2 Hardware Description</vt:lpstr>
      <vt:lpstr>BASS-2 Hardware Description</vt:lpstr>
      <vt:lpstr>BASS-2 SAMPLE PHOTOS </vt:lpstr>
      <vt:lpstr>BASS Sample Types</vt:lpstr>
      <vt:lpstr>BASS-2 HARDWARE OVERVIEW (Sample Mounting)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SLICE/BASS SYSTEM REQUIREMENTS DESIGN REVIEW</dc:title>
  <dc:creator>lorikt</dc:creator>
  <cp:lastModifiedBy>Hawersaat, Robert W. (GRC-MSI0)</cp:lastModifiedBy>
  <cp:revision>93</cp:revision>
  <dcterms:created xsi:type="dcterms:W3CDTF">2010-03-22T17:07:42Z</dcterms:created>
  <dcterms:modified xsi:type="dcterms:W3CDTF">2017-02-21T19:28:00Z</dcterms:modified>
</cp:coreProperties>
</file>